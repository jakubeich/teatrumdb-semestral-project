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Dobrý den, představím projekt TeatrumDB.
Je to databázová aplikace pro divadelní provoz. Vybral jsem si divadlo proto, že se tam přirozeně potkávají lidé, představení, sedadla, rezervace i platby.
Snažil jsem se, aby to nebyla jen izolovaná evidence, ale aby jednotlivé části dávaly dohromady jeden použitelný celek.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Začal jsem aplikační doménou, tedy provozem divadla.
V modelu jsou návštěvníci, umělecký personál, inscenace, představení, sály, sedadla, rezervace, platby i recenze.
Základní tok je jednoduchý: divadlo má inscenaci, ta se hraje v konkrétním termínu, návštěvník si vybere sedadlo, vytvoří rezervaci a ta se následně zaplatí.
Na téhle doméně mi přišlo dobré, že má provozní část i obchodní část a zároveň z ní jdou dělat smysluplné přehledy.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Konceptuální model vychází z toho divadelního toku.
Model má víc než deset entit. Základ tvoří osoby, tedy návštěvník, zaměstnanec, herec a režisér. Vedle toho jsou provozní entity jako inscenace, představení, sál, sedadlo, rezervace, platba, předplatné, recenze a role.
Model využívá několik výraznějších databázových konstrukcí. ISA hierarchie je řešená přes obecnou osobu a její specializace. ARC vztah je u platby, která patří buď k rezervaci, nebo k předplatnému. Non-transferable vztah je u rezervace, protože rezervaci nelze převést na jiného návštěvníka.
Model obsahuje i složené atributy, například adresu, a vícehodnotové atributy, například telefony, jazyky, žánry a ocenění.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 konceptuálním modelu jsem část návrhu převedl do objektových typů v Oracle.
V Oracle jsou vytvořené objektové typy. Například osoba_t je nadtyp, ze kterého vychází navstevnik_t, zamestnanec_t, herec_t a reziser_t.
Složený atribut adresa je samostatný typ adresa_t. Vícehodnotové atributy jsou implementované kolekcemi: telefony a jazyky jako nested table, žánry a ocenění jako VARRAY.
Odvoditelné atributy nejsou uložené jako běžné sloupce, ale jako metody objektových typů. Příklady jsou vek(), celkem_utraceno(), prumerne_hodnoceni() a volna_mista(). Díky tomu zůstává výpočet hodnot přímo u dat, kterých se týká.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Tento slide ukazuje fyzický objektově-relační model v Oracle.
Schéma je rozdělené do několika SQL souborů. První soubor vytváří typy, tabulky, sekvence a objektové metody. Druhý soubor obsahuje triggery. Třetí soubor obsahuje procedury a funkce. Čtvrtý soubor vkládá testovací data a pátý obsahuje demonstrační dotazy.
Projekt kombinuje objektové tabulky a klasické relační vazby. Objektové prvky používám hlavně u osob, adres a metod. Provozní vazby jako rezervace, role nebo platby jsou modelované relačně.
Celé schéma se dá vytvořit v Oracle kontejneru přes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Databáze tady nehlídá jen běžné cizí klíče.
Triggery hlídají doménovou a referenční integritu nad rámec běžných cizích klíčů. Například rezervace musí být na existující budoucí představení a na sedadlo ve správném sále. Další trigger hlídá, že rezervaci nelze převést na jiného návštěvníka. U plateb se kontroluje ARC pravidlo, tedy že platba patří buď k rezervaci, nebo k předplatnému, ne k oběma najednou.
PL/SQL část obsahuje procedury pro vytvoření rezervace, zrušení rezervace a generování sedadel. Funkce potom počítají tržbu inscenace, obsazenost představení a TOP návštěvníky podle útraty.
Tyto procedury a funkce nejsou jen ve schématu, ale aplikace je skutečně volá.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Dotazy jsem bral jako způsob, jak ukázat, co se z těch dat dá získat.
Je jich dvanáct a týkají se návštěvníků, obsazenosti, hodnocení, rolí, plateb i práce s objektovými atributy.
Vedle běžných spojení a agregací jsou tam i dotazy s ALL, ANY, IN a NOT EXISTS. Příklad práce s objektovým typem je volání metody vek() nebo adresa.cela_adresa(). Příklad práce s kolekcí je TABLE(r.oceneni) nebo TABLE(h.zanry).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Aplikační část je jednoduché desktopové rozhraní v Pythonu.
Aplikace je vytvořená v Pythonu pomocí Tkinteru a připojuje se k Oracle databázi. Má několik částí: připojení, přehled, návštěvníky, rezervace, dotazy a procedury.
U návštěvníků je možné vkládat, upravovat a mazat data. Aplikace pracuje i se složenou adresou a telefony. U rezervací aplikace neprovádí logiku sama ručně, ale volá PL/SQL procedury v databázi.
Samostatná část aplikace umožňuje spouštět připravené SQL dotazy a zobrazovat výsledky. Další část volá funkce pro tržby, obsazenost a TOP návštěvníky.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závěr bych to shrnul jednoduše.
Projekt vychází z jedné konkrétní domény a kolem ní jsou postavené všechny části: model, databázová logika, dotazy i aplikace.
Nechtěl jsem dělat jen sadu nesouvisejících tabulek. Cílem bylo, aby šlo projít celý proces od představení přes rezervaci až po platbu a následné přehledy.
Tím bych prezentaci uzavřel a dál můžu ukázat konkrétní část projektu.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34440" cy="6858000"/>
          </a:xfrm>
          <a:prstGeom prst="rect">
            <a:avLst/>
          </a:prstGeom>
          <a:solidFill>
            <a:srgbClr val="7C1F25"/>
          </a:solidFill>
          <a:ln w="12700">
            <a:solidFill>
              <a:srgbClr val="7C1F2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34440" y="0"/>
            <a:ext cx="118872" cy="6858000"/>
          </a:xfrm>
          <a:prstGeom prst="rect">
            <a:avLst/>
          </a:prstGeom>
          <a:solidFill>
            <a:srgbClr val="D8A62A"/>
          </a:solidFill>
          <a:ln w="12700">
            <a:solidFill>
              <a:srgbClr val="D8A6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83080" y="126187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TeatrumDB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1810512" y="193852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0E6"/>
                </a:solidFill>
              </a:rPr>
              <a:t>divadelní databázová aplikace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10512" y="28346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AC4"/>
                </a:solidFill>
              </a:rPr>
              <a:t>Semestrální projekt | Databázové systémy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10512" y="3163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8A62A"/>
                </a:solidFill>
              </a:rPr>
              <a:t>Jakub Mitrega | R24080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10512" y="3794760"/>
            <a:ext cx="3108960" cy="0"/>
          </a:xfrm>
          <a:prstGeom prst="line">
            <a:avLst/>
          </a:prstGeom>
          <a:noFill/>
          <a:ln w="25400">
            <a:solidFill>
              <a:srgbClr val="B6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404164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EF3F4"/>
                </a:solidFill>
              </a:rPr>
              <a:t>Oracle objektově-relační schéma, PL/SQL logika a desktopová aplikace pro správu provozu divadla.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35440" y="640080"/>
            <a:ext cx="2286000" cy="4754880"/>
          </a:xfrm>
          <a:prstGeom prst="arc">
            <a:avLst/>
          </a:prstGeom>
          <a:noFill/>
          <a:ln w="19050">
            <a:solidFill>
              <a:srgbClr val="485866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96528" y="6071616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AEBAC4"/>
                </a:solidFill>
              </a:rPr>
              <a:t>prezentace semestrálního projektu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3A3A"/>
                </a:solidFill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3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Aplikační doména: provoz divadla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11338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46170"/>
                </a:solidFill>
              </a:rPr>
              <a:t>Evidence od inscenace až po platbu a vyhodnocení návštěvnosti.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303934" cy="713232"/>
          </a:xfrm>
          <a:prstGeom prst="roundRect">
            <a:avLst>
              <a:gd name="adj" fmla="val 10256"/>
            </a:avLst>
          </a:prstGeom>
          <a:solidFill>
            <a:srgbClr val="F1F3F4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066544"/>
            <a:ext cx="1084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Inscenace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80590" y="2231136"/>
            <a:ext cx="128016" cy="0"/>
          </a:xfrm>
          <a:prstGeom prst="line">
            <a:avLst/>
          </a:prstGeom>
          <a:noFill/>
          <a:ln w="17780">
            <a:solidFill>
              <a:srgbClr val="B63A3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26894" y="1874520"/>
            <a:ext cx="130393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6622" y="2066544"/>
            <a:ext cx="1084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Představení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49117" y="2231136"/>
            <a:ext cx="128016" cy="0"/>
          </a:xfrm>
          <a:prstGeom prst="line">
            <a:avLst/>
          </a:prstGeom>
          <a:noFill/>
          <a:ln w="17780">
            <a:solidFill>
              <a:srgbClr val="B63A3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595421" y="1874520"/>
            <a:ext cx="1303934" cy="713232"/>
          </a:xfrm>
          <a:prstGeom prst="roundRect">
            <a:avLst>
              <a:gd name="adj" fmla="val 10256"/>
            </a:avLst>
          </a:prstGeom>
          <a:solidFill>
            <a:srgbClr val="F1F3F4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5149" y="2066544"/>
            <a:ext cx="1084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Sedadlo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17643" y="2231136"/>
            <a:ext cx="128016" cy="0"/>
          </a:xfrm>
          <a:prstGeom prst="line">
            <a:avLst/>
          </a:prstGeom>
          <a:noFill/>
          <a:ln w="17780">
            <a:solidFill>
              <a:srgbClr val="B63A3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63947" y="1874520"/>
            <a:ext cx="1303934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3675" y="2066544"/>
            <a:ext cx="1084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Rezervace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86170" y="2231136"/>
            <a:ext cx="128016" cy="0"/>
          </a:xfrm>
          <a:prstGeom prst="line">
            <a:avLst/>
          </a:prstGeom>
          <a:noFill/>
          <a:ln w="17780">
            <a:solidFill>
              <a:srgbClr val="B63A3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32474" y="1874520"/>
            <a:ext cx="1303934" cy="713232"/>
          </a:xfrm>
          <a:prstGeom prst="roundRect">
            <a:avLst>
              <a:gd name="adj" fmla="val 10256"/>
            </a:avLst>
          </a:prstGeom>
          <a:solidFill>
            <a:srgbClr val="F1F3F4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2202" y="2066544"/>
            <a:ext cx="1084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Platba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28803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CO SYSTÉM POKRÝVÁ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13232" y="3255264"/>
            <a:ext cx="173736" cy="173736"/>
          </a:xfrm>
          <a:prstGeom prst="ellipse">
            <a:avLst/>
          </a:prstGeom>
          <a:solidFill>
            <a:srgbClr val="2F8F83"/>
          </a:solidFill>
          <a:ln w="12700">
            <a:solidFill>
              <a:srgbClr val="2F8F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2461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návštěvníky, adresy, telefony a věrnostní karty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13232" y="3657600"/>
            <a:ext cx="173736" cy="173736"/>
          </a:xfrm>
          <a:prstGeom prst="ellipse">
            <a:avLst/>
          </a:prstGeom>
          <a:solidFill>
            <a:srgbClr val="2F8F83"/>
          </a:solidFill>
          <a:ln w="12700">
            <a:solidFill>
              <a:srgbClr val="2F8F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64845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sály, sedadla, termíny představení a obsazenost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13232" y="4059936"/>
            <a:ext cx="173736" cy="173736"/>
          </a:xfrm>
          <a:prstGeom prst="ellipse">
            <a:avLst/>
          </a:prstGeom>
          <a:solidFill>
            <a:srgbClr val="2F8F83"/>
          </a:solidFill>
          <a:ln w="12700">
            <a:solidFill>
              <a:srgbClr val="2F8F8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050792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rezervace, předplatné, platby a ARC pravidlo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713232" y="4462272"/>
            <a:ext cx="173736" cy="173736"/>
          </a:xfrm>
          <a:prstGeom prst="ellipse">
            <a:avLst/>
          </a:prstGeom>
          <a:solidFill>
            <a:srgbClr val="2F8F83"/>
          </a:solidFill>
          <a:ln w="12700">
            <a:solidFill>
              <a:srgbClr val="2F8F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44531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herce, režiséry, role, recenze a hodnocení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183880" y="17373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0160">
            <a:solidFill>
              <a:srgbClr val="D7DE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1737360"/>
            <a:ext cx="73152" cy="1325880"/>
          </a:xfrm>
          <a:prstGeom prst="rect">
            <a:avLst/>
          </a:prstGeom>
          <a:solidFill>
            <a:srgbClr val="B63A3A"/>
          </a:solidFill>
          <a:ln w="12700">
            <a:solidFill>
              <a:srgbClr val="B63A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1883664"/>
            <a:ext cx="292608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330"/>
                </a:solidFill>
              </a:rPr>
              <a:t>Doména je vhodná pro objektově-relační model: obsahuje osoby s dědičností, složené atributy, kolekce, odvozené hodnoty i integritní pravidla.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8229600" y="3456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TECHNOLOGICKÁ ČÁST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229600" y="3822192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2A5D8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9328" y="3890772"/>
            <a:ext cx="1472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5D84"/>
                </a:solidFill>
              </a:rPr>
              <a:t>Oracle 23c Free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0040112" y="38221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B6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49840" y="3890772"/>
            <a:ext cx="8321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63A3A"/>
                </a:solidFill>
              </a:rPr>
              <a:t>PL/SQL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229600" y="4297680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2F8F8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9328" y="4366260"/>
            <a:ext cx="1746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F83"/>
                </a:solidFill>
              </a:rPr>
              <a:t>Python / Tkinter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0314432" y="429768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D8A6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24160" y="4366260"/>
            <a:ext cx="649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8A62A"/>
                </a:solidFill>
              </a:rPr>
              <a:t>Docker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0352" y="6446520"/>
            <a:ext cx="11109960" cy="0"/>
          </a:xfrm>
          <a:prstGeom prst="line">
            <a:avLst/>
          </a:prstGeom>
          <a:noFill/>
          <a:ln w="8890">
            <a:solidFill>
              <a:srgbClr val="D8DE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TeatrumDB | Databázové systémy 1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11173968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3A3A"/>
                </a:solidFill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3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Konceptuální model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11338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46170"/>
                </a:solidFill>
              </a:rPr>
              <a:t>Jádro modelu propojuje provozní agendu, osoby a obchodní transakce.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1088136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8890">
            <a:solidFill>
              <a:srgbClr val="D1D7DD"/>
            </a:solidFill>
            <a:prstDash val="solid"/>
          </a:ln>
          <a:effectLst>
            <a:outerShdw sx="100000" sy="100000" kx="0" ky="0" algn="bl" rotWithShape="0" blurRad="25400" dist="50800" dir="2700000">
              <a:srgbClr val="B8C0C8">
                <a:alpha val="18000"/>
              </a:srgbClr>
            </a:outerShdw>
          </a:effectLst>
        </p:spPr>
      </p:sp>
      <p:pic>
        <p:nvPicPr>
          <p:cNvPr id="6" name="Image 0" descr="/Users/jakubmitrega/Documents/TeatrumDB/images/concep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81445"/>
            <a:ext cx="10881360" cy="343907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53492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7DE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5349240"/>
            <a:ext cx="73152" cy="777240"/>
          </a:xfrm>
          <a:prstGeom prst="rect">
            <a:avLst/>
          </a:prstGeom>
          <a:solidFill>
            <a:srgbClr val="B63A3A"/>
          </a:solidFill>
          <a:ln w="12700">
            <a:solidFill>
              <a:srgbClr val="B63A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495544"/>
            <a:ext cx="4892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330"/>
                </a:solidFill>
              </a:rPr>
              <a:t>Klíčové konstrukce: ISA hierarchie osob, ARC vztah plateb, non-transferable vztah rezervace, složené a vícehodnotové atributy.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6172200" y="5349240"/>
            <a:ext cx="4983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0160">
            <a:solidFill>
              <a:srgbClr val="D7DEE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72200" y="5349240"/>
            <a:ext cx="73152" cy="777240"/>
          </a:xfrm>
          <a:prstGeom prst="rect">
            <a:avLst/>
          </a:prstGeom>
          <a:solidFill>
            <a:srgbClr val="2F8F83"/>
          </a:solidFill>
          <a:ln w="12700">
            <a:solidFill>
              <a:srgbClr val="2F8F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5495544"/>
            <a:ext cx="46634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330"/>
                </a:solidFill>
              </a:rPr>
              <a:t>Model má dost datových vazeb pro demonstraci spojení, kvantifikace, agregací i dotazů nad kolekcemi.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530352" y="6446520"/>
            <a:ext cx="11109960" cy="0"/>
          </a:xfrm>
          <a:prstGeom prst="line">
            <a:avLst/>
          </a:prstGeom>
          <a:noFill/>
          <a:ln w="8890">
            <a:solidFill>
              <a:srgbClr val="D8DE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TeatrumDB | Databázové systémy 1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11173968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3A3A"/>
                </a:solidFill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3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Objektové typy, metody a kolekce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11338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46170"/>
                </a:solidFill>
              </a:rPr>
              <a:t>Odvoditelné atributy jsou implementované jako metody objektových typů.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440680" y="1371600"/>
            <a:ext cx="589788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8890">
            <a:solidFill>
              <a:srgbClr val="D1D7DD"/>
            </a:solidFill>
            <a:prstDash val="solid"/>
          </a:ln>
          <a:effectLst>
            <a:outerShdw sx="100000" sy="100000" kx="0" ky="0" algn="bl" rotWithShape="0" blurRad="25400" dist="50800" dir="2700000">
              <a:srgbClr val="B8C0C8">
                <a:alpha val="18000"/>
              </a:srgbClr>
            </a:outerShdw>
          </a:effectLst>
        </p:spPr>
      </p:sp>
      <p:pic>
        <p:nvPicPr>
          <p:cNvPr id="6" name="Image 0" descr="/Users/jakubmitrega/Documents/TeatrumDB/images/object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909571"/>
            <a:ext cx="5897880" cy="326745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POUŽITÉ ADT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713232" y="1929384"/>
            <a:ext cx="173736" cy="173736"/>
          </a:xfrm>
          <a:prstGeom prst="ellipse">
            <a:avLst/>
          </a:prstGeom>
          <a:solidFill>
            <a:srgbClr val="2A5D84"/>
          </a:solidFill>
          <a:ln w="12700">
            <a:solidFill>
              <a:srgbClr val="2A5D8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osoba_t jako NOT FINAL nadtyp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713232" y="2286000"/>
            <a:ext cx="173736" cy="173736"/>
          </a:xfrm>
          <a:prstGeom prst="ellipse">
            <a:avLst/>
          </a:prstGeom>
          <a:solidFill>
            <a:srgbClr val="2A5D84"/>
          </a:solidFill>
          <a:ln w="12700">
            <a:solidFill>
              <a:srgbClr val="2A5D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22768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navstevnik_t, zamestnanec_t, herec_t, reziser_t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13232" y="2642616"/>
            <a:ext cx="173736" cy="173736"/>
          </a:xfrm>
          <a:prstGeom prst="ellipse">
            <a:avLst/>
          </a:prstGeom>
          <a:solidFill>
            <a:srgbClr val="2A5D84"/>
          </a:solidFill>
          <a:ln w="12700">
            <a:solidFill>
              <a:srgbClr val="2A5D8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6334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adresa_t jako složený atribut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713232" y="2999232"/>
            <a:ext cx="173736" cy="173736"/>
          </a:xfrm>
          <a:prstGeom prst="ellipse">
            <a:avLst/>
          </a:prstGeom>
          <a:solidFill>
            <a:srgbClr val="2A5D84"/>
          </a:solidFill>
          <a:ln w="12700">
            <a:solidFill>
              <a:srgbClr val="2A5D8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29900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telefony_t a jazyky_t jako nested table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13232" y="3355848"/>
            <a:ext cx="173736" cy="173736"/>
          </a:xfrm>
          <a:prstGeom prst="ellipse">
            <a:avLst/>
          </a:prstGeom>
          <a:solidFill>
            <a:srgbClr val="2A5D84"/>
          </a:solidFill>
          <a:ln w="12700">
            <a:solidFill>
              <a:srgbClr val="2A5D8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33467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zanry_t a oceneni_t jako VARRAY</a:t>
            </a:r>
            <a:endParaRPr lang="en-US" sz="930" dirty="0"/>
          </a:p>
        </p:txBody>
      </p:sp>
      <p:sp>
        <p:nvSpPr>
          <p:cNvPr id="18" name="Text 15"/>
          <p:cNvSpPr/>
          <p:nvPr/>
        </p:nvSpPr>
        <p:spPr>
          <a:xfrm>
            <a:off x="658368" y="40050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METODY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713232" y="434340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B63A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411980"/>
            <a:ext cx="6949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63A3A"/>
                </a:solidFill>
              </a:rPr>
              <a:t>vek()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1773936" y="434340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2F8F8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883664" y="4411980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F83"/>
                </a:solidFill>
              </a:rPr>
              <a:t>celkem_utraceno()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13232" y="4791456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D8A62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860036"/>
            <a:ext cx="21122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8A62A"/>
                </a:solidFill>
              </a:rPr>
              <a:t>prumerne_hodnoceni()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182112" y="4791456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2A5D8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91840" y="4860036"/>
            <a:ext cx="12893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A5D84"/>
                </a:solidFill>
              </a:rPr>
              <a:t>volna_mista()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30352" y="6446520"/>
            <a:ext cx="11109960" cy="0"/>
          </a:xfrm>
          <a:prstGeom prst="line">
            <a:avLst/>
          </a:prstGeom>
          <a:noFill/>
          <a:ln w="8890">
            <a:solidFill>
              <a:srgbClr val="D8DED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TeatrumDB | Databázové systémy 1</a:t>
            </a:r>
            <a:endParaRPr lang="en-US" sz="780" dirty="0"/>
          </a:p>
        </p:txBody>
      </p:sp>
      <p:sp>
        <p:nvSpPr>
          <p:cNvPr id="29" name="Text 26"/>
          <p:cNvSpPr/>
          <p:nvPr/>
        </p:nvSpPr>
        <p:spPr>
          <a:xfrm>
            <a:off x="11173968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3A3A"/>
                </a:solidFill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3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Objektově-relační schéma v Oracle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11338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46170"/>
                </a:solidFill>
              </a:rPr>
              <a:t>Schéma kombinuje objektové tabulky, relační vazby, kolekce a PL/SQL balík funkcionality.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58368" y="1325880"/>
            <a:ext cx="74980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8890">
            <a:solidFill>
              <a:srgbClr val="D1D7DD"/>
            </a:solidFill>
            <a:prstDash val="solid"/>
          </a:ln>
          <a:effectLst>
            <a:outerShdw sx="100000" sy="100000" kx="0" ky="0" algn="bl" rotWithShape="0" blurRad="25400" dist="50800" dir="2700000">
              <a:srgbClr val="B8C0C8">
                <a:alpha val="18000"/>
              </a:srgbClr>
            </a:outerShdw>
          </a:effectLst>
        </p:spPr>
      </p:sp>
      <p:pic>
        <p:nvPicPr>
          <p:cNvPr id="6" name="Image 0" descr="/Users/jakubmitrega/Documents/TeatrumDB/images/relational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31475"/>
            <a:ext cx="7498080" cy="451508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85632" y="14904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SKRIPTY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8476488" y="1828800"/>
            <a:ext cx="1508760" cy="402336"/>
          </a:xfrm>
          <a:prstGeom prst="rect">
            <a:avLst/>
          </a:prstGeom>
          <a:solidFill>
            <a:srgbClr val="E8EDF0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1888236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172330"/>
                </a:solidFill>
              </a:rPr>
              <a:t>Soubor</a:t>
            </a:r>
            <a:endParaRPr lang="en-US" sz="710" dirty="0"/>
          </a:p>
        </p:txBody>
      </p:sp>
      <p:sp>
        <p:nvSpPr>
          <p:cNvPr id="10" name="Shape 7"/>
          <p:cNvSpPr/>
          <p:nvPr/>
        </p:nvSpPr>
        <p:spPr>
          <a:xfrm>
            <a:off x="9985248" y="1828800"/>
            <a:ext cx="2057400" cy="402336"/>
          </a:xfrm>
          <a:prstGeom prst="rect">
            <a:avLst/>
          </a:prstGeom>
          <a:solidFill>
            <a:srgbClr val="E8EDF0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0" y="188823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b="1" dirty="0">
                <a:solidFill>
                  <a:srgbClr val="172330"/>
                </a:solidFill>
              </a:rPr>
              <a:t>Obsah</a:t>
            </a:r>
            <a:endParaRPr lang="en-US" sz="710" dirty="0"/>
          </a:p>
        </p:txBody>
      </p:sp>
      <p:sp>
        <p:nvSpPr>
          <p:cNvPr id="12" name="Shape 9"/>
          <p:cNvSpPr/>
          <p:nvPr/>
        </p:nvSpPr>
        <p:spPr>
          <a:xfrm>
            <a:off x="8476488" y="2231136"/>
            <a:ext cx="15087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49640" y="2290572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01_schema.sql</a:t>
            </a:r>
            <a:endParaRPr lang="en-US" sz="710" dirty="0"/>
          </a:p>
        </p:txBody>
      </p:sp>
      <p:sp>
        <p:nvSpPr>
          <p:cNvPr id="14" name="Shape 11"/>
          <p:cNvSpPr/>
          <p:nvPr/>
        </p:nvSpPr>
        <p:spPr>
          <a:xfrm>
            <a:off x="9985248" y="2231136"/>
            <a:ext cx="20574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0" y="229057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typy, tabulky, sekvence, metody</a:t>
            </a:r>
            <a:endParaRPr lang="en-US" sz="710" dirty="0"/>
          </a:p>
        </p:txBody>
      </p:sp>
      <p:sp>
        <p:nvSpPr>
          <p:cNvPr id="16" name="Shape 13"/>
          <p:cNvSpPr/>
          <p:nvPr/>
        </p:nvSpPr>
        <p:spPr>
          <a:xfrm>
            <a:off x="8476488" y="2633472"/>
            <a:ext cx="1508760" cy="402336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2692908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02_triggers.sql</a:t>
            </a:r>
            <a:endParaRPr lang="en-US" sz="710" dirty="0"/>
          </a:p>
        </p:txBody>
      </p:sp>
      <p:sp>
        <p:nvSpPr>
          <p:cNvPr id="18" name="Shape 15"/>
          <p:cNvSpPr/>
          <p:nvPr/>
        </p:nvSpPr>
        <p:spPr>
          <a:xfrm>
            <a:off x="9985248" y="2633472"/>
            <a:ext cx="2057400" cy="402336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0" y="2692908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integrita a doménová pravidla</a:t>
            </a:r>
            <a:endParaRPr lang="en-US" sz="710" dirty="0"/>
          </a:p>
        </p:txBody>
      </p:sp>
      <p:sp>
        <p:nvSpPr>
          <p:cNvPr id="20" name="Shape 17"/>
          <p:cNvSpPr/>
          <p:nvPr/>
        </p:nvSpPr>
        <p:spPr>
          <a:xfrm>
            <a:off x="8476488" y="3035808"/>
            <a:ext cx="15087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3095244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03_procedures.sql</a:t>
            </a:r>
            <a:endParaRPr lang="en-US" sz="710" dirty="0"/>
          </a:p>
        </p:txBody>
      </p:sp>
      <p:sp>
        <p:nvSpPr>
          <p:cNvPr id="22" name="Shape 19"/>
          <p:cNvSpPr/>
          <p:nvPr/>
        </p:nvSpPr>
        <p:spPr>
          <a:xfrm>
            <a:off x="9985248" y="3035808"/>
            <a:ext cx="20574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0" y="3095244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procedury a funkce PL/SQL</a:t>
            </a:r>
            <a:endParaRPr lang="en-US" sz="710" dirty="0"/>
          </a:p>
        </p:txBody>
      </p:sp>
      <p:sp>
        <p:nvSpPr>
          <p:cNvPr id="24" name="Shape 21"/>
          <p:cNvSpPr/>
          <p:nvPr/>
        </p:nvSpPr>
        <p:spPr>
          <a:xfrm>
            <a:off x="8476488" y="3438144"/>
            <a:ext cx="1508760" cy="402336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49640" y="3497580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04_data.sql</a:t>
            </a:r>
            <a:endParaRPr lang="en-US" sz="710" dirty="0"/>
          </a:p>
        </p:txBody>
      </p:sp>
      <p:sp>
        <p:nvSpPr>
          <p:cNvPr id="26" name="Shape 23"/>
          <p:cNvSpPr/>
          <p:nvPr/>
        </p:nvSpPr>
        <p:spPr>
          <a:xfrm>
            <a:off x="9985248" y="3438144"/>
            <a:ext cx="2057400" cy="402336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058400" y="3497580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testovací data</a:t>
            </a:r>
            <a:endParaRPr lang="en-US" sz="710" dirty="0"/>
          </a:p>
        </p:txBody>
      </p:sp>
      <p:sp>
        <p:nvSpPr>
          <p:cNvPr id="28" name="Shape 25"/>
          <p:cNvSpPr/>
          <p:nvPr/>
        </p:nvSpPr>
        <p:spPr>
          <a:xfrm>
            <a:off x="8476488" y="3840480"/>
            <a:ext cx="150876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49640" y="3899916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05_queries.sql</a:t>
            </a:r>
            <a:endParaRPr lang="en-US" sz="710" dirty="0"/>
          </a:p>
        </p:txBody>
      </p:sp>
      <p:sp>
        <p:nvSpPr>
          <p:cNvPr id="30" name="Shape 27"/>
          <p:cNvSpPr/>
          <p:nvPr/>
        </p:nvSpPr>
        <p:spPr>
          <a:xfrm>
            <a:off x="9985248" y="3840480"/>
            <a:ext cx="20574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058400" y="3899916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172330"/>
                </a:solidFill>
              </a:rPr>
              <a:t>12 demonstračních dotazů</a:t>
            </a:r>
            <a:endParaRPr lang="en-US" sz="710" dirty="0"/>
          </a:p>
        </p:txBody>
      </p:sp>
      <p:sp>
        <p:nvSpPr>
          <p:cNvPr id="32" name="Shape 29"/>
          <p:cNvSpPr/>
          <p:nvPr/>
        </p:nvSpPr>
        <p:spPr>
          <a:xfrm>
            <a:off x="8458200" y="4526280"/>
            <a:ext cx="29718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7DE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58200" y="4526280"/>
            <a:ext cx="73152" cy="841248"/>
          </a:xfrm>
          <a:prstGeom prst="rect">
            <a:avLst/>
          </a:prstGeom>
          <a:solidFill>
            <a:srgbClr val="2A5D84"/>
          </a:solidFill>
          <a:ln w="12700">
            <a:solidFill>
              <a:srgbClr val="2A5D8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641080" y="467258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330"/>
                </a:solidFill>
              </a:rPr>
              <a:t>Instalace je spustitelná v Dockeru a vytváří uživatele teatrum v PDB FREEPDB1.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530352" y="6446520"/>
            <a:ext cx="11109960" cy="0"/>
          </a:xfrm>
          <a:prstGeom prst="line">
            <a:avLst/>
          </a:prstGeom>
          <a:noFill/>
          <a:ln w="8890">
            <a:solidFill>
              <a:srgbClr val="D8DED9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0352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TeatrumDB | Databázové systémy 1</a:t>
            </a:r>
            <a:endParaRPr lang="en-US" sz="780" dirty="0"/>
          </a:p>
        </p:txBody>
      </p:sp>
      <p:sp>
        <p:nvSpPr>
          <p:cNvPr id="37" name="Text 34"/>
          <p:cNvSpPr/>
          <p:nvPr/>
        </p:nvSpPr>
        <p:spPr>
          <a:xfrm>
            <a:off x="11173968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3A3A"/>
                </a:solidFill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3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Integrita a PL/SQL funkcionalita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11338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46170"/>
                </a:solidFill>
              </a:rPr>
              <a:t>Triggery hlídají pravidla domény, procedury a funkce tvoří aplikační rozhraní.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TRIGGERY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057400" cy="438912"/>
          </a:xfrm>
          <a:prstGeom prst="rect">
            <a:avLst/>
          </a:prstGeom>
          <a:solidFill>
            <a:srgbClr val="E8EDF0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33956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330"/>
                </a:solidFill>
              </a:rPr>
              <a:t>Trigger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2715768" y="1874520"/>
            <a:ext cx="4251960" cy="438912"/>
          </a:xfrm>
          <a:prstGeom prst="rect">
            <a:avLst/>
          </a:prstGeom>
          <a:solidFill>
            <a:srgbClr val="E8EDF0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933956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172330"/>
                </a:solidFill>
              </a:rPr>
              <a:t>Pravidlo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>
            <a:off x="658368" y="2313432"/>
            <a:ext cx="2057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2868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trg_rez_integrita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2715768" y="2313432"/>
            <a:ext cx="42519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372868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rezervace jen pro existující budoucí představení a sedadlo ve správném sále</a:t>
            </a:r>
            <a:endParaRPr lang="en-US" sz="730" dirty="0"/>
          </a:p>
        </p:txBody>
      </p:sp>
      <p:sp>
        <p:nvSpPr>
          <p:cNvPr id="14" name="Shape 12"/>
          <p:cNvSpPr/>
          <p:nvPr/>
        </p:nvSpPr>
        <p:spPr>
          <a:xfrm>
            <a:off x="658368" y="2752344"/>
            <a:ext cx="2057400" cy="43891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11780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trg_role_nontransferable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2715768" y="2752344"/>
            <a:ext cx="4251960" cy="43891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88920" y="2811780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u role nelze změnit herce ani inscenaci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658368" y="3191256"/>
            <a:ext cx="2057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50692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trg_hodn_validita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2715768" y="3191256"/>
            <a:ext cx="42519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3250692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hodnocení jen po proběhlém představení s rezervací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658368" y="3630168"/>
            <a:ext cx="2057400" cy="43891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89604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trg_platba_stav_rez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2715768" y="3630168"/>
            <a:ext cx="4251960" cy="43891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3689604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platba přepne rezervaci na stav ZAPLACENA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58368" y="4069080"/>
            <a:ext cx="205740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128516"/>
            <a:ext cx="1911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trg_pred_vyprodano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2715768" y="4069080"/>
            <a:ext cx="4251960" cy="43891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4128516"/>
            <a:ext cx="4105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172330"/>
                </a:solidFill>
              </a:rPr>
              <a:t>naplněná kapacita přepne představení na VYPRODANO</a:t>
            </a:r>
            <a:endParaRPr lang="en-US" sz="730" dirty="0"/>
          </a:p>
        </p:txBody>
      </p:sp>
      <p:sp>
        <p:nvSpPr>
          <p:cNvPr id="30" name="Text 28"/>
          <p:cNvSpPr/>
          <p:nvPr/>
        </p:nvSpPr>
        <p:spPr>
          <a:xfrm>
            <a:off x="7178040" y="1572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PROCEDURY A FUNKCE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78040" y="1874520"/>
            <a:ext cx="1920240" cy="393192"/>
          </a:xfrm>
          <a:prstGeom prst="rect">
            <a:avLst/>
          </a:prstGeom>
          <a:solidFill>
            <a:srgbClr val="E8EDF0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51192" y="1933956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330"/>
                </a:solidFill>
              </a:rPr>
              <a:t>Název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9098280" y="1874520"/>
            <a:ext cx="2331720" cy="393192"/>
          </a:xfrm>
          <a:prstGeom prst="rect">
            <a:avLst/>
          </a:prstGeom>
          <a:solidFill>
            <a:srgbClr val="E8EDF0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71432" y="1933956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b="1" dirty="0">
                <a:solidFill>
                  <a:srgbClr val="172330"/>
                </a:solidFill>
              </a:rPr>
              <a:t>Účel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7178040" y="2267712"/>
            <a:ext cx="1920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1192" y="2327148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pr_vytvorit_rezervaci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9098280" y="2267712"/>
            <a:ext cx="23317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1432" y="2327148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vytvoření rezervace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7178040" y="2660904"/>
            <a:ext cx="1920240" cy="39319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51192" y="2720340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pr_zrusit_rezervaci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9098280" y="2660904"/>
            <a:ext cx="2331720" cy="39319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71432" y="2720340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zrušení a vrácená částka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7178040" y="3054096"/>
            <a:ext cx="1920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51192" y="3113532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pr_generuj_sedadla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9098280" y="3054096"/>
            <a:ext cx="23317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71432" y="3113532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hromadné vytvoření sedadel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7178040" y="3447288"/>
            <a:ext cx="1920240" cy="39319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51192" y="3506724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fn_trzba_inscenace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9098280" y="3447288"/>
            <a:ext cx="2331720" cy="39319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71432" y="3506724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tržba za inscenaci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7178040" y="3840480"/>
            <a:ext cx="192024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51192" y="3899916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fn_obsazenost_pct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9098280" y="3840480"/>
            <a:ext cx="2331720" cy="393192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171432" y="3899916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obsazenost představení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7178040" y="4233672"/>
            <a:ext cx="1920240" cy="39319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51192" y="4293108"/>
            <a:ext cx="17739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fn_top_navstevnici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9098280" y="4233672"/>
            <a:ext cx="2331720" cy="393192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171432" y="4293108"/>
            <a:ext cx="21854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72330"/>
                </a:solidFill>
              </a:rPr>
              <a:t>REF CURSOR TOP návštěvníků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530352" y="6446520"/>
            <a:ext cx="11109960" cy="0"/>
          </a:xfrm>
          <a:prstGeom prst="line">
            <a:avLst/>
          </a:prstGeom>
          <a:noFill/>
          <a:ln w="8890">
            <a:solidFill>
              <a:srgbClr val="D8DE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0352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TeatrumDB | Databázové systémy 1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11173968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3A3A"/>
                </a:solidFill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3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Demonstrační SQL dotazy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11338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46170"/>
                </a:solidFill>
              </a:rPr>
              <a:t>Dotazy ukazují provozní i analytické pohledy nad ADT a kolekcemi.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788920" cy="466344"/>
          </a:xfrm>
          <a:prstGeom prst="rect">
            <a:avLst/>
          </a:prstGeom>
          <a:solidFill>
            <a:srgbClr val="E8EDF0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23644"/>
            <a:ext cx="2642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72330"/>
                </a:solidFill>
              </a:rPr>
              <a:t>Konstrukce</a:t>
            </a:r>
            <a:endParaRPr lang="en-US" sz="790" dirty="0"/>
          </a:p>
        </p:txBody>
      </p:sp>
      <p:sp>
        <p:nvSpPr>
          <p:cNvPr id="7" name="Shape 5"/>
          <p:cNvSpPr/>
          <p:nvPr/>
        </p:nvSpPr>
        <p:spPr>
          <a:xfrm>
            <a:off x="3447288" y="1664208"/>
            <a:ext cx="5623560" cy="466344"/>
          </a:xfrm>
          <a:prstGeom prst="rect">
            <a:avLst/>
          </a:prstGeom>
          <a:solidFill>
            <a:srgbClr val="E8EDF0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723644"/>
            <a:ext cx="5477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b="1" dirty="0">
                <a:solidFill>
                  <a:srgbClr val="172330"/>
                </a:solidFill>
              </a:rPr>
              <a:t>Ukázka v projektu</a:t>
            </a:r>
            <a:endParaRPr lang="en-US" sz="790" dirty="0"/>
          </a:p>
        </p:txBody>
      </p:sp>
      <p:sp>
        <p:nvSpPr>
          <p:cNvPr id="9" name="Shape 7"/>
          <p:cNvSpPr/>
          <p:nvPr/>
        </p:nvSpPr>
        <p:spPr>
          <a:xfrm>
            <a:off x="658368" y="2130552"/>
            <a:ext cx="2788920" cy="466344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89988"/>
            <a:ext cx="2642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projekce + selekce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3447288" y="2130552"/>
            <a:ext cx="5623560" cy="466344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189988"/>
            <a:ext cx="5477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návštěvníci starší 30 let, metoda vek()</a:t>
            </a:r>
            <a:endParaRPr lang="en-US" sz="790" dirty="0"/>
          </a:p>
        </p:txBody>
      </p:sp>
      <p:sp>
        <p:nvSpPr>
          <p:cNvPr id="13" name="Shape 11"/>
          <p:cNvSpPr/>
          <p:nvPr/>
        </p:nvSpPr>
        <p:spPr>
          <a:xfrm>
            <a:off x="658368" y="2596896"/>
            <a:ext cx="2788920" cy="466344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656332"/>
            <a:ext cx="2642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spojení</a:t>
            </a:r>
            <a:endParaRPr lang="en-US" sz="790" dirty="0"/>
          </a:p>
        </p:txBody>
      </p:sp>
      <p:sp>
        <p:nvSpPr>
          <p:cNvPr id="15" name="Shape 13"/>
          <p:cNvSpPr/>
          <p:nvPr/>
        </p:nvSpPr>
        <p:spPr>
          <a:xfrm>
            <a:off x="3447288" y="2596896"/>
            <a:ext cx="5623560" cy="466344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2656332"/>
            <a:ext cx="5477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inscenace s režisérem a rolemi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658368" y="3063240"/>
            <a:ext cx="2788920" cy="466344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122676"/>
            <a:ext cx="2642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ALL / ANY / IN</a:t>
            </a:r>
            <a:endParaRPr lang="en-US" sz="790" dirty="0"/>
          </a:p>
        </p:txBody>
      </p:sp>
      <p:sp>
        <p:nvSpPr>
          <p:cNvPr id="19" name="Shape 17"/>
          <p:cNvSpPr/>
          <p:nvPr/>
        </p:nvSpPr>
        <p:spPr>
          <a:xfrm>
            <a:off x="3447288" y="3063240"/>
            <a:ext cx="5623560" cy="466344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122676"/>
            <a:ext cx="5477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maximální hodnocení, role režiséra, množina inscenací</a:t>
            </a:r>
            <a:endParaRPr lang="en-US" sz="790" dirty="0"/>
          </a:p>
        </p:txBody>
      </p:sp>
      <p:sp>
        <p:nvSpPr>
          <p:cNvPr id="21" name="Shape 19"/>
          <p:cNvSpPr/>
          <p:nvPr/>
        </p:nvSpPr>
        <p:spPr>
          <a:xfrm>
            <a:off x="658368" y="3529584"/>
            <a:ext cx="2788920" cy="466344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589020"/>
            <a:ext cx="2642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seskupení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3447288" y="3529584"/>
            <a:ext cx="5623560" cy="466344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3589020"/>
            <a:ext cx="5477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počty představení, průměrné hodnocení, top sály</a:t>
            </a:r>
            <a:endParaRPr lang="en-US" sz="790" dirty="0"/>
          </a:p>
        </p:txBody>
      </p:sp>
      <p:sp>
        <p:nvSpPr>
          <p:cNvPr id="25" name="Shape 23"/>
          <p:cNvSpPr/>
          <p:nvPr/>
        </p:nvSpPr>
        <p:spPr>
          <a:xfrm>
            <a:off x="658368" y="3995928"/>
            <a:ext cx="2788920" cy="466344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055364"/>
            <a:ext cx="2642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NOT EXISTS</a:t>
            </a:r>
            <a:endParaRPr lang="en-US" sz="790" dirty="0"/>
          </a:p>
        </p:txBody>
      </p:sp>
      <p:sp>
        <p:nvSpPr>
          <p:cNvPr id="27" name="Shape 25"/>
          <p:cNvSpPr/>
          <p:nvPr/>
        </p:nvSpPr>
        <p:spPr>
          <a:xfrm>
            <a:off x="3447288" y="3995928"/>
            <a:ext cx="5623560" cy="466344"/>
          </a:xfrm>
          <a:prstGeom prst="rect">
            <a:avLst/>
          </a:prstGeom>
          <a:solidFill>
            <a:srgbClr val="FFFFFF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0440" y="4055364"/>
            <a:ext cx="5477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budoucí představení bez rezervací a univerzální kvantifikace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658368" y="4462272"/>
            <a:ext cx="2788920" cy="466344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21708"/>
            <a:ext cx="2642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ADT + kolekce</a:t>
            </a:r>
            <a:endParaRPr lang="en-US" sz="790" dirty="0"/>
          </a:p>
        </p:txBody>
      </p:sp>
      <p:sp>
        <p:nvSpPr>
          <p:cNvPr id="31" name="Shape 29"/>
          <p:cNvSpPr/>
          <p:nvPr/>
        </p:nvSpPr>
        <p:spPr>
          <a:xfrm>
            <a:off x="3447288" y="4462272"/>
            <a:ext cx="5623560" cy="466344"/>
          </a:xfrm>
          <a:prstGeom prst="rect">
            <a:avLst/>
          </a:prstGeom>
          <a:solidFill>
            <a:srgbClr val="F3F5F6"/>
          </a:solidFill>
          <a:ln w="6985">
            <a:solidFill>
              <a:srgbClr val="CAD2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4521708"/>
            <a:ext cx="547725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90" dirty="0">
                <a:solidFill>
                  <a:srgbClr val="172330"/>
                </a:solidFill>
              </a:rPr>
              <a:t>adresa.cela_adresa(), TABLE(r.oceneni), TABLE(h.zanry)</a:t>
            </a:r>
            <a:endParaRPr lang="en-US" sz="790" dirty="0"/>
          </a:p>
        </p:txBody>
      </p:sp>
      <p:sp>
        <p:nvSpPr>
          <p:cNvPr id="33" name="Text 31"/>
          <p:cNvSpPr/>
          <p:nvPr/>
        </p:nvSpPr>
        <p:spPr>
          <a:xfrm>
            <a:off x="731520" y="51937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UKÁZKY VÝSTUPŮ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731520" y="5468112"/>
            <a:ext cx="507492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7DE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5468112"/>
            <a:ext cx="73152" cy="621792"/>
          </a:xfrm>
          <a:prstGeom prst="rect">
            <a:avLst/>
          </a:prstGeom>
          <a:solidFill>
            <a:srgbClr val="B63A3A"/>
          </a:solidFill>
          <a:ln w="12700">
            <a:solidFill>
              <a:srgbClr val="B6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5614416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330"/>
                </a:solidFill>
              </a:rPr>
              <a:t>V aplikaci jsou dotazy v katalogu. U každého je vidět SQL a pod ním výsledek.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6080760" y="5468112"/>
            <a:ext cx="45262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D7DE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5468112"/>
            <a:ext cx="73152" cy="621792"/>
          </a:xfrm>
          <a:prstGeom prst="rect">
            <a:avLst/>
          </a:prstGeom>
          <a:solidFill>
            <a:srgbClr val="2F8F83"/>
          </a:solidFill>
          <a:ln w="12700">
            <a:solidFill>
              <a:srgbClr val="2F8F8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56144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330"/>
                </a:solidFill>
              </a:rPr>
              <a:t>Použil jsem je hlavně na obsazenost, tržby, hodnocení a aktivitu návštěvníků.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9464040" y="1965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F8F83"/>
                </a:solidFill>
              </a:rPr>
              <a:t>12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9464040" y="24597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546170"/>
                </a:solidFill>
              </a:rPr>
              <a:t>dotazů v aplikaci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30352" y="6446520"/>
            <a:ext cx="11109960" cy="0"/>
          </a:xfrm>
          <a:prstGeom prst="line">
            <a:avLst/>
          </a:prstGeom>
          <a:noFill/>
          <a:ln w="8890">
            <a:solidFill>
              <a:srgbClr val="D8DE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TeatrumDB | Databázové systémy 1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11173968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63A3A"/>
                </a:solidFill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3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Desktopová aplikace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11338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46170"/>
                </a:solidFill>
              </a:rPr>
              <a:t>Tkinter aplikace umožňuje CRUD, spouštění dotazů i volání PL/SQL funkcí.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1501140" cy="713232"/>
          </a:xfrm>
          <a:prstGeom prst="roundRect">
            <a:avLst>
              <a:gd name="adj" fmla="val 10256"/>
            </a:avLst>
          </a:prstGeom>
          <a:solidFill>
            <a:srgbClr val="F1F3F4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929384"/>
            <a:ext cx="1281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Připojení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77796" y="2093976"/>
            <a:ext cx="128016" cy="0"/>
          </a:xfrm>
          <a:prstGeom prst="line">
            <a:avLst/>
          </a:prstGeom>
          <a:noFill/>
          <a:ln w="17780">
            <a:solidFill>
              <a:srgbClr val="2F8F8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24100" y="1737360"/>
            <a:ext cx="15011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3828" y="1929384"/>
            <a:ext cx="1281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Přehled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3528" y="2093976"/>
            <a:ext cx="128016" cy="0"/>
          </a:xfrm>
          <a:prstGeom prst="line">
            <a:avLst/>
          </a:prstGeom>
          <a:noFill/>
          <a:ln w="17780">
            <a:solidFill>
              <a:srgbClr val="2F8F8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89832" y="1737360"/>
            <a:ext cx="1501140" cy="713232"/>
          </a:xfrm>
          <a:prstGeom prst="roundRect">
            <a:avLst>
              <a:gd name="adj" fmla="val 10256"/>
            </a:avLst>
          </a:prstGeom>
          <a:solidFill>
            <a:srgbClr val="F1F3F4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9560" y="1929384"/>
            <a:ext cx="1281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Návštěvníci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509260" y="2093976"/>
            <a:ext cx="128016" cy="0"/>
          </a:xfrm>
          <a:prstGeom prst="line">
            <a:avLst/>
          </a:prstGeom>
          <a:noFill/>
          <a:ln w="17780">
            <a:solidFill>
              <a:srgbClr val="2F8F8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655564" y="1737360"/>
            <a:ext cx="15011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5292" y="1929384"/>
            <a:ext cx="1281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Rezervace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174992" y="2093976"/>
            <a:ext cx="128016" cy="0"/>
          </a:xfrm>
          <a:prstGeom prst="line">
            <a:avLst/>
          </a:prstGeom>
          <a:noFill/>
          <a:ln w="17780">
            <a:solidFill>
              <a:srgbClr val="2F8F8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21296" y="1737360"/>
            <a:ext cx="1501140" cy="713232"/>
          </a:xfrm>
          <a:prstGeom prst="roundRect">
            <a:avLst>
              <a:gd name="adj" fmla="val 10256"/>
            </a:avLst>
          </a:prstGeom>
          <a:solidFill>
            <a:srgbClr val="F1F3F4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31024" y="1929384"/>
            <a:ext cx="1281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Dotazy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840724" y="2093976"/>
            <a:ext cx="128016" cy="0"/>
          </a:xfrm>
          <a:prstGeom prst="line">
            <a:avLst/>
          </a:prstGeom>
          <a:noFill/>
          <a:ln w="17780">
            <a:solidFill>
              <a:srgbClr val="2F8F8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987028" y="1737360"/>
            <a:ext cx="15011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C8D0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6756" y="1929384"/>
            <a:ext cx="1281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330"/>
                </a:solidFill>
              </a:rPr>
              <a:t>Procedury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27889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63A3A"/>
                </a:solidFill>
              </a:rPr>
              <a:t>FUNKCIONALITY APLIKACE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1520" y="3191256"/>
            <a:ext cx="173736" cy="173736"/>
          </a:xfrm>
          <a:prstGeom prst="ellipse">
            <a:avLst/>
          </a:prstGeom>
          <a:solidFill>
            <a:srgbClr val="2E7D57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318211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automatické připojení k Oracle podle .env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31520" y="3575304"/>
            <a:ext cx="173736" cy="173736"/>
          </a:xfrm>
          <a:prstGeom prst="ellipse">
            <a:avLst/>
          </a:prstGeom>
          <a:solidFill>
            <a:srgbClr val="2E7D57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56616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CRUD nad návštěvníky včetně adresy a telefonů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731520" y="3959352"/>
            <a:ext cx="173736" cy="173736"/>
          </a:xfrm>
          <a:prstGeom prst="ellipse">
            <a:avLst/>
          </a:prstGeom>
          <a:solidFill>
            <a:srgbClr val="2E7D57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395020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vytvoření a zrušení rezervace přes PL/SQL procedury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31520" y="4343400"/>
            <a:ext cx="173736" cy="173736"/>
          </a:xfrm>
          <a:prstGeom prst="ellipse">
            <a:avLst/>
          </a:prstGeom>
          <a:solidFill>
            <a:srgbClr val="2E7D57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433425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katalog 12 dotazů s SQL náhledem a výsledkovou tabulkou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731520" y="4727448"/>
            <a:ext cx="173736" cy="173736"/>
          </a:xfrm>
          <a:prstGeom prst="ellipse">
            <a:avLst/>
          </a:prstGeom>
          <a:solidFill>
            <a:srgbClr val="2E7D57"/>
          </a:solidFill>
          <a:ln w="12700">
            <a:solidFill>
              <a:srgbClr val="2E7D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471830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72330"/>
                </a:solidFill>
              </a:rPr>
              <a:t>výpočet tržby, obsazenosti a TOP návštěvníků přes funkce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7818120" y="306324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7DE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3063240"/>
            <a:ext cx="73152" cy="1170432"/>
          </a:xfrm>
          <a:prstGeom prst="rect">
            <a:avLst/>
          </a:prstGeom>
          <a:solidFill>
            <a:srgbClr val="B63A3A"/>
          </a:solidFill>
          <a:ln w="12700">
            <a:solidFill>
              <a:srgbClr val="B6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3209544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330"/>
                </a:solidFill>
              </a:rPr>
              <a:t>Aplikace není jen prohlížeč tabulek: demonstruje objektové atributy, kolekce a aplikační PL/SQL logiku.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7909560" y="46451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3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run_app.sh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09560" y="4956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546170"/>
                </a:solidFill>
              </a:rPr>
              <a:t>spustí Docker databázi, nainstaluje závislosti a otevře aplikaci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530352" y="6446520"/>
            <a:ext cx="11109960" cy="0"/>
          </a:xfrm>
          <a:prstGeom prst="line">
            <a:avLst/>
          </a:prstGeom>
          <a:noFill/>
          <a:ln w="8890">
            <a:solidFill>
              <a:srgbClr val="D8DE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TeatrumDB | Databázové systémy 1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11173968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5461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3832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A62A"/>
                </a:solidFill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Závěr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30352" y="113385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AD3DA"/>
                </a:solidFill>
              </a:rPr>
              <a:t>Projekt je postavený kolem běžného provozu divadla.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Od představení přes rezervaci až po platbu.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841248" y="3246120"/>
            <a:ext cx="2011680" cy="0"/>
          </a:xfrm>
          <a:prstGeom prst="line">
            <a:avLst/>
          </a:prstGeom>
          <a:noFill/>
          <a:ln w="25400">
            <a:solidFill>
              <a:srgbClr val="D8A6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4930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386791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EA"/>
                </a:solidFill>
              </a:rPr>
              <a:t>drží pohromadě osoby, představení, sedadla, rezervace a platby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44568" y="3246120"/>
            <a:ext cx="2011680" cy="0"/>
          </a:xfrm>
          <a:prstGeom prst="line">
            <a:avLst/>
          </a:prstGeom>
          <a:noFill/>
          <a:ln w="25400">
            <a:solidFill>
              <a:srgbClr val="2F8F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34930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Databáze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386791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EA"/>
                </a:solidFill>
              </a:rPr>
              <a:t>obsahuje typy, kolekce, triggery, procedury a výpočty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47888" y="3246120"/>
            <a:ext cx="2011680" cy="0"/>
          </a:xfrm>
          <a:prstGeom prst="line">
            <a:avLst/>
          </a:prstGeom>
          <a:noFill/>
          <a:ln w="25400">
            <a:solidFill>
              <a:srgbClr val="B6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7888" y="34930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Aplikace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47888" y="3867912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5EA"/>
                </a:solidFill>
              </a:rPr>
              <a:t>umožňuje data spravovat, rezervovat místa a spouštět dotazy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55138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A62A"/>
                </a:solidFill>
              </a:rPr>
              <a:t>Děkuji za pozornost.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30352" y="6446520"/>
            <a:ext cx="11109960" cy="0"/>
          </a:xfrm>
          <a:prstGeom prst="line">
            <a:avLst/>
          </a:prstGeom>
          <a:noFill/>
          <a:ln w="8890">
            <a:solidFill>
              <a:srgbClr val="5260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651967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AD3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TeatrumDB | Databázové systémy 1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11173968" y="651967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CAD3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KIP/XDBS1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TeatrumDB - prezentace projektu</dc:title>
  <dc:subject>Semestrální projekt Databázové systémy 1</dc:subject>
  <dc:creator>Jakub Mitrega</dc:creator>
  <cp:lastModifiedBy>Jakub Mitrega</cp:lastModifiedBy>
  <cp:revision>1</cp:revision>
  <dcterms:created xsi:type="dcterms:W3CDTF">2026-04-29T13:22:46Z</dcterms:created>
  <dcterms:modified xsi:type="dcterms:W3CDTF">2026-04-29T13:22:46Z</dcterms:modified>
</cp:coreProperties>
</file>